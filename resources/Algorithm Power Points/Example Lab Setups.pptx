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4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5A2DF9-3384-4DF7-8289-DA197368C1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635000">
            <a:solidFill>
              <a:srgbClr val="E84A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0B71D6-48CD-4D87-8335-1852F7DDBF74}"/>
              </a:ext>
            </a:extLst>
          </p:cNvPr>
          <p:cNvSpPr txBox="1"/>
          <p:nvPr/>
        </p:nvSpPr>
        <p:spPr>
          <a:xfrm rot="606815">
            <a:off x="-1079200" y="-569645"/>
            <a:ext cx="3673310" cy="7546972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6981F6-33D9-4A2D-A507-0EC06D88C4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3647" y="2383691"/>
            <a:ext cx="9093646" cy="1466831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Title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E1D6D-B9DD-4168-A762-21B30DB18865}"/>
              </a:ext>
            </a:extLst>
          </p:cNvPr>
          <p:cNvCxnSpPr>
            <a:cxnSpLocks/>
          </p:cNvCxnSpPr>
          <p:nvPr/>
        </p:nvCxnSpPr>
        <p:spPr>
          <a:xfrm flipH="1">
            <a:off x="1863632" y="-365760"/>
            <a:ext cx="1375236" cy="7606971"/>
          </a:xfrm>
          <a:prstGeom prst="line">
            <a:avLst/>
          </a:prstGeom>
          <a:ln w="317500">
            <a:solidFill>
              <a:srgbClr val="E84A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C7903A5-DC4C-4AD1-96D3-486EAE243A15}"/>
              </a:ext>
            </a:extLst>
          </p:cNvPr>
          <p:cNvSpPr/>
          <p:nvPr/>
        </p:nvSpPr>
        <p:spPr>
          <a:xfrm>
            <a:off x="-301062" y="201281"/>
            <a:ext cx="339235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Kwiat</a:t>
            </a:r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2800" i="1" dirty="0">
                <a:solidFill>
                  <a:schemeClr val="bg1"/>
                </a:solidFill>
              </a:rPr>
              <a:t>Quantum</a:t>
            </a:r>
          </a:p>
          <a:p>
            <a:pPr algn="ctr"/>
            <a:r>
              <a:rPr lang="en-US" sz="2800" i="1" dirty="0">
                <a:solidFill>
                  <a:schemeClr val="bg1"/>
                </a:solidFill>
              </a:rPr>
              <a:t>Information 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Group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376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31505-DC2B-49FE-90D0-472DE7E97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49820-875B-4BFE-B446-356FFF9E2052}" type="datetimeFigureOut">
              <a:rPr lang="en-US" smtClean="0"/>
              <a:t>7/16/2021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792B6-A129-4CE7-8F4A-319886427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85836-EF0A-494E-BC2F-85A0C74C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91AC-E550-47C7-8AF9-C7E9DF717FE6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633CE3E-E424-4655-B04D-9D23DC9728B7}"/>
              </a:ext>
            </a:extLst>
          </p:cNvPr>
          <p:cNvGrpSpPr/>
          <p:nvPr/>
        </p:nvGrpSpPr>
        <p:grpSpPr>
          <a:xfrm>
            <a:off x="0" y="-213360"/>
            <a:ext cx="12192000" cy="1849120"/>
            <a:chOff x="0" y="-213360"/>
            <a:chExt cx="12192000" cy="184912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E6D533-80CD-4C3B-A041-7B27DF2FF6E5}"/>
                </a:ext>
              </a:extLst>
            </p:cNvPr>
            <p:cNvSpPr/>
            <p:nvPr userDrawn="1"/>
          </p:nvSpPr>
          <p:spPr>
            <a:xfrm>
              <a:off x="0" y="0"/>
              <a:ext cx="12192000" cy="1412999"/>
            </a:xfrm>
            <a:prstGeom prst="rect">
              <a:avLst/>
            </a:prstGeom>
            <a:solidFill>
              <a:srgbClr val="13294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F3EADFD7-303D-4244-9F27-A8320FD8908F}"/>
                </a:ext>
              </a:extLst>
            </p:cNvPr>
            <p:cNvSpPr/>
            <p:nvPr/>
          </p:nvSpPr>
          <p:spPr>
            <a:xfrm rot="16200000">
              <a:off x="5888100" y="-4668140"/>
              <a:ext cx="415800" cy="12192000"/>
            </a:xfrm>
            <a:prstGeom prst="arc">
              <a:avLst>
                <a:gd name="adj1" fmla="val 16200000"/>
                <a:gd name="adj2" fmla="val 54021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BA9DE6AA-0EAE-42B6-9472-057C01E714F8}"/>
                </a:ext>
              </a:extLst>
            </p:cNvPr>
            <p:cNvSpPr/>
            <p:nvPr/>
          </p:nvSpPr>
          <p:spPr>
            <a:xfrm rot="5400000" flipV="1">
              <a:off x="5888100" y="-6101460"/>
              <a:ext cx="415800" cy="12192000"/>
            </a:xfrm>
            <a:prstGeom prst="arc">
              <a:avLst>
                <a:gd name="adj1" fmla="val 16200000"/>
                <a:gd name="adj2" fmla="val 5402140"/>
              </a:avLst>
            </a:prstGeom>
            <a:solidFill>
              <a:srgbClr val="E84A27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52783DE4-BBF3-4753-AF19-A5E05BB20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5460"/>
            <a:ext cx="12191999" cy="1412999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81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0BF5D-AC7B-47D5-A361-22E002159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66752-5F9F-4CBD-8435-1C7DC0733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49820-875B-4BFE-B446-356FFF9E2052}" type="datetimeFigureOut">
              <a:rPr lang="en-US" smtClean="0"/>
              <a:t>7/16/2021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AE2A0-35D4-4412-BCC1-334201CCA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58699-5FD2-412A-81B2-57B910A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91AC-E550-47C7-8AF9-C7E9DF717FE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FC4E124-F0FD-4C60-8B98-EB8228EC94A0}"/>
              </a:ext>
            </a:extLst>
          </p:cNvPr>
          <p:cNvGrpSpPr/>
          <p:nvPr/>
        </p:nvGrpSpPr>
        <p:grpSpPr>
          <a:xfrm>
            <a:off x="0" y="-213360"/>
            <a:ext cx="12192000" cy="1849120"/>
            <a:chOff x="0" y="-213360"/>
            <a:chExt cx="12192000" cy="184912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E562F31-EBE9-4DC0-BB97-89CC77A1B819}"/>
                </a:ext>
              </a:extLst>
            </p:cNvPr>
            <p:cNvSpPr/>
            <p:nvPr userDrawn="1"/>
          </p:nvSpPr>
          <p:spPr>
            <a:xfrm>
              <a:off x="0" y="0"/>
              <a:ext cx="12192000" cy="1412999"/>
            </a:xfrm>
            <a:prstGeom prst="rect">
              <a:avLst/>
            </a:prstGeom>
            <a:solidFill>
              <a:srgbClr val="13294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DD5460F7-0D56-4727-9E6A-77E72C5A8391}"/>
                </a:ext>
              </a:extLst>
            </p:cNvPr>
            <p:cNvSpPr/>
            <p:nvPr/>
          </p:nvSpPr>
          <p:spPr>
            <a:xfrm rot="16200000">
              <a:off x="5888100" y="-4668140"/>
              <a:ext cx="415800" cy="12192000"/>
            </a:xfrm>
            <a:prstGeom prst="arc">
              <a:avLst>
                <a:gd name="adj1" fmla="val 16200000"/>
                <a:gd name="adj2" fmla="val 54021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B8F58D3B-E52A-4812-B9A9-4D18894F54DE}"/>
                </a:ext>
              </a:extLst>
            </p:cNvPr>
            <p:cNvSpPr/>
            <p:nvPr/>
          </p:nvSpPr>
          <p:spPr>
            <a:xfrm rot="5400000" flipV="1">
              <a:off x="5888100" y="-6101460"/>
              <a:ext cx="415800" cy="12192000"/>
            </a:xfrm>
            <a:prstGeom prst="arc">
              <a:avLst>
                <a:gd name="adj1" fmla="val 16200000"/>
                <a:gd name="adj2" fmla="val 5402140"/>
              </a:avLst>
            </a:prstGeom>
            <a:solidFill>
              <a:srgbClr val="E84A27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E2EAE54B-3C9E-4F08-99CC-4DBD84EF8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5460"/>
            <a:ext cx="12191999" cy="1412999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132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6C303-3ACE-49C2-87B3-4E9E36860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0B58A-990F-4AB7-A258-23C90CF44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66CDD-E961-42B1-BAFD-3A17776E9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49820-875B-4BFE-B446-356FFF9E2052}" type="datetimeFigureOut">
              <a:rPr lang="en-US" smtClean="0"/>
              <a:t>7/16/2021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0870C-F64F-4800-9DCD-FE18020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844C4-CF8B-4442-B61C-7DB41CDB5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91AC-E550-47C7-8AF9-C7E9DF717FE6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4DD056-502E-4E40-AB8F-AEED9A7AFE93}"/>
              </a:ext>
            </a:extLst>
          </p:cNvPr>
          <p:cNvGrpSpPr/>
          <p:nvPr/>
        </p:nvGrpSpPr>
        <p:grpSpPr>
          <a:xfrm>
            <a:off x="0" y="-213360"/>
            <a:ext cx="12192000" cy="1849120"/>
            <a:chOff x="0" y="-213360"/>
            <a:chExt cx="12192000" cy="184912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3E4C11-5D5F-4EDE-9C30-C8094E6D1305}"/>
                </a:ext>
              </a:extLst>
            </p:cNvPr>
            <p:cNvSpPr/>
            <p:nvPr userDrawn="1"/>
          </p:nvSpPr>
          <p:spPr>
            <a:xfrm>
              <a:off x="0" y="0"/>
              <a:ext cx="12192000" cy="1412999"/>
            </a:xfrm>
            <a:prstGeom prst="rect">
              <a:avLst/>
            </a:prstGeom>
            <a:solidFill>
              <a:srgbClr val="13294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70149381-5263-40AA-9973-420C7E8AC7F7}"/>
                </a:ext>
              </a:extLst>
            </p:cNvPr>
            <p:cNvSpPr/>
            <p:nvPr/>
          </p:nvSpPr>
          <p:spPr>
            <a:xfrm rot="16200000">
              <a:off x="5888100" y="-4668140"/>
              <a:ext cx="415800" cy="12192000"/>
            </a:xfrm>
            <a:prstGeom prst="arc">
              <a:avLst>
                <a:gd name="adj1" fmla="val 16200000"/>
                <a:gd name="adj2" fmla="val 54021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877DA4B1-E896-4D9A-8F40-CD6D85F8FCCF}"/>
                </a:ext>
              </a:extLst>
            </p:cNvPr>
            <p:cNvSpPr/>
            <p:nvPr/>
          </p:nvSpPr>
          <p:spPr>
            <a:xfrm rot="5400000" flipV="1">
              <a:off x="5888100" y="-6101460"/>
              <a:ext cx="415800" cy="12192000"/>
            </a:xfrm>
            <a:prstGeom prst="arc">
              <a:avLst>
                <a:gd name="adj1" fmla="val 16200000"/>
                <a:gd name="adj2" fmla="val 5402140"/>
              </a:avLst>
            </a:prstGeom>
            <a:solidFill>
              <a:srgbClr val="E84A27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30CB2644-1C66-42DA-BD24-240749752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5460"/>
            <a:ext cx="12191999" cy="1412999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972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EA9B9-6538-481C-90F1-9D410D4B3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57222-4564-40A9-A711-A97EE5DC4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C0B14-86A1-4F4F-8174-7A92010EF9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08D3B-6BF9-4972-A910-F94A6A2A7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9B29A-9D06-44EE-ABEC-1709B7B5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49820-875B-4BFE-B446-356FFF9E2052}" type="datetimeFigureOut">
              <a:rPr lang="en-US" smtClean="0"/>
              <a:t>7/16/2021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B30618-1B07-4AD1-8F84-747D11FEE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C5269-2138-4DB5-AA72-5EE9CFA6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91AC-E550-47C7-8AF9-C7E9DF717FE6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EB49F3-5BE2-43F4-92D4-AD3992B49ECD}"/>
              </a:ext>
            </a:extLst>
          </p:cNvPr>
          <p:cNvGrpSpPr/>
          <p:nvPr/>
        </p:nvGrpSpPr>
        <p:grpSpPr>
          <a:xfrm>
            <a:off x="0" y="-213360"/>
            <a:ext cx="12192000" cy="1849120"/>
            <a:chOff x="0" y="-213360"/>
            <a:chExt cx="12192000" cy="184912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19D6264-A766-40A2-BB55-D3C00FE1CB8B}"/>
                </a:ext>
              </a:extLst>
            </p:cNvPr>
            <p:cNvSpPr/>
            <p:nvPr userDrawn="1"/>
          </p:nvSpPr>
          <p:spPr>
            <a:xfrm>
              <a:off x="0" y="0"/>
              <a:ext cx="12192000" cy="1412999"/>
            </a:xfrm>
            <a:prstGeom prst="rect">
              <a:avLst/>
            </a:prstGeom>
            <a:solidFill>
              <a:srgbClr val="13294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06549062-33E3-4826-A1BC-C557AB51D698}"/>
                </a:ext>
              </a:extLst>
            </p:cNvPr>
            <p:cNvSpPr/>
            <p:nvPr/>
          </p:nvSpPr>
          <p:spPr>
            <a:xfrm rot="16200000">
              <a:off x="5888100" y="-4668140"/>
              <a:ext cx="415800" cy="12192000"/>
            </a:xfrm>
            <a:prstGeom prst="arc">
              <a:avLst>
                <a:gd name="adj1" fmla="val 16200000"/>
                <a:gd name="adj2" fmla="val 54021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0065906B-C299-4FBA-8240-086AF60D65BF}"/>
                </a:ext>
              </a:extLst>
            </p:cNvPr>
            <p:cNvSpPr/>
            <p:nvPr/>
          </p:nvSpPr>
          <p:spPr>
            <a:xfrm rot="5400000" flipV="1">
              <a:off x="5888100" y="-6101460"/>
              <a:ext cx="415800" cy="12192000"/>
            </a:xfrm>
            <a:prstGeom prst="arc">
              <a:avLst>
                <a:gd name="adj1" fmla="val 16200000"/>
                <a:gd name="adj2" fmla="val 5402140"/>
              </a:avLst>
            </a:prstGeom>
            <a:solidFill>
              <a:srgbClr val="E84A27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C8FAE8FD-E07A-496E-9B64-3B71F6B5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5460"/>
            <a:ext cx="12191999" cy="1412999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624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D88A-0325-4ECD-8D15-8BB563BC1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9C5484-4405-4F74-9C1B-FDF656569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BA815-F225-4194-AEB3-E7B0642BD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49820-875B-4BFE-B446-356FFF9E2052}" type="datetimeFigureOut">
              <a:rPr lang="en-US" smtClean="0"/>
              <a:t>7/16/2021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D3760-E9A7-4983-AC67-06B761D69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80FF6-CC28-4E6A-BE37-0813C75C0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91AC-E550-47C7-8AF9-C7E9DF717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85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679F7-3E54-42FB-BA7A-035AF5F40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573BD-B418-4E3C-BD24-984547BEAA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49820-875B-4BFE-B446-356FFF9E2052}" type="datetimeFigureOut">
              <a:rPr lang="en-US" smtClean="0"/>
              <a:t>7/16/2021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EC67D-CDE6-422D-AE3F-849D6DFB8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DCA3D-21F5-4DBF-B82A-ECB945A78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791AC-E550-47C7-8AF9-C7E9DF717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34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8BD499D-9729-4AF0-8CBC-860668C9F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3647" y="2383691"/>
            <a:ext cx="9093646" cy="1466831"/>
          </a:xfrm>
        </p:spPr>
        <p:txBody>
          <a:bodyPr/>
          <a:lstStyle/>
          <a:p>
            <a:r>
              <a:rPr lang="en-US" dirty="0"/>
              <a:t>Quantum-Tomography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154666-F118-4214-9722-90CCAEBBD44B}"/>
              </a:ext>
            </a:extLst>
          </p:cNvPr>
          <p:cNvSpPr txBox="1">
            <a:spLocks/>
          </p:cNvSpPr>
          <p:nvPr/>
        </p:nvSpPr>
        <p:spPr>
          <a:xfrm>
            <a:off x="3361762" y="2834765"/>
            <a:ext cx="9093646" cy="146683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Tomography Demo</a:t>
            </a:r>
          </a:p>
        </p:txBody>
      </p:sp>
    </p:spTree>
    <p:extLst>
      <p:ext uri="{BB962C8B-B14F-4D97-AF65-F5344CB8AC3E}">
        <p14:creationId xmlns:p14="http://schemas.microsoft.com/office/powerpoint/2010/main" val="4123144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2E50A-665B-40E0-9DB3-CD1B36C2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Qubits 4 Detectors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CA6283-BCCD-42F3-B28B-547850485956}"/>
              </a:ext>
            </a:extLst>
          </p:cNvPr>
          <p:cNvGrpSpPr/>
          <p:nvPr/>
        </p:nvGrpSpPr>
        <p:grpSpPr>
          <a:xfrm>
            <a:off x="3073012" y="2409536"/>
            <a:ext cx="5556652" cy="3239308"/>
            <a:chOff x="2869753" y="2409536"/>
            <a:chExt cx="5556652" cy="3239308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304A5AD5-9DA8-4EAE-A39F-008F0D8E29DC}"/>
                </a:ext>
              </a:extLst>
            </p:cNvPr>
            <p:cNvCxnSpPr>
              <a:cxnSpLocks/>
            </p:cNvCxnSpPr>
            <p:nvPr/>
          </p:nvCxnSpPr>
          <p:spPr>
            <a:xfrm>
              <a:off x="2974430" y="3481432"/>
              <a:ext cx="35909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5FD100A-E55C-4B0F-8A75-A2FFA1ECA812}"/>
                </a:ext>
              </a:extLst>
            </p:cNvPr>
            <p:cNvCxnSpPr>
              <a:cxnSpLocks/>
            </p:cNvCxnSpPr>
            <p:nvPr/>
          </p:nvCxnSpPr>
          <p:spPr>
            <a:xfrm>
              <a:off x="2974430" y="4529182"/>
              <a:ext cx="35909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D84B7B-2CF6-41C8-AE03-81E7D6178418}"/>
                </a:ext>
              </a:extLst>
            </p:cNvPr>
            <p:cNvSpPr/>
            <p:nvPr/>
          </p:nvSpPr>
          <p:spPr>
            <a:xfrm>
              <a:off x="6565355" y="3271882"/>
              <a:ext cx="542925" cy="47624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E4BB55A-D1AA-4F4D-80A0-8418BBD04E05}"/>
                </a:ext>
              </a:extLst>
            </p:cNvPr>
            <p:cNvSpPr/>
            <p:nvPr/>
          </p:nvSpPr>
          <p:spPr>
            <a:xfrm>
              <a:off x="6565355" y="4261326"/>
              <a:ext cx="542925" cy="47624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304D1BE-5184-4CA0-802C-876FFC5D9E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60252" y="3271883"/>
              <a:ext cx="548028" cy="4561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0A0BF2C-3497-4012-98B8-E19B8D776BA6}"/>
                </a:ext>
              </a:extLst>
            </p:cNvPr>
            <p:cNvCxnSpPr>
              <a:cxnSpLocks/>
            </p:cNvCxnSpPr>
            <p:nvPr/>
          </p:nvCxnSpPr>
          <p:spPr>
            <a:xfrm>
              <a:off x="6565355" y="4261326"/>
              <a:ext cx="542925" cy="4762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370F885-3FA9-40C5-B985-B56CF3292B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8280" y="4517922"/>
              <a:ext cx="91440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E207BD7-F62E-41F5-A881-29150E97F98A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H="1">
              <a:off x="6834266" y="4737575"/>
              <a:ext cx="2552" cy="5419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35C61AD-34E5-498A-9078-3D9520143CAA}"/>
                </a:ext>
              </a:extLst>
            </p:cNvPr>
            <p:cNvCxnSpPr>
              <a:cxnSpLocks/>
            </p:cNvCxnSpPr>
            <p:nvPr/>
          </p:nvCxnSpPr>
          <p:spPr>
            <a:xfrm>
              <a:off x="7108280" y="3463827"/>
              <a:ext cx="914400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0E494BC-93F8-4D1D-A164-4081C89AD89C}"/>
                </a:ext>
              </a:extLst>
            </p:cNvPr>
            <p:cNvCxnSpPr>
              <a:stCxn id="6" idx="0"/>
            </p:cNvCxnSpPr>
            <p:nvPr/>
          </p:nvCxnSpPr>
          <p:spPr>
            <a:xfrm flipH="1" flipV="1">
              <a:off x="6836817" y="2795631"/>
              <a:ext cx="1" cy="4762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67FA553C-E11C-4761-9A55-E31B9C5AC703}"/>
                </a:ext>
              </a:extLst>
            </p:cNvPr>
            <p:cNvSpPr/>
            <p:nvPr/>
          </p:nvSpPr>
          <p:spPr>
            <a:xfrm rot="16200000">
              <a:off x="6649072" y="2390712"/>
              <a:ext cx="375490" cy="413137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lowchart: Delay 25">
              <a:extLst>
                <a:ext uri="{FF2B5EF4-FFF2-40B4-BE49-F238E27FC236}">
                  <a16:creationId xmlns:a16="http://schemas.microsoft.com/office/drawing/2014/main" id="{CF5B815C-E573-4C3B-B0AD-C96D301BAD1A}"/>
                </a:ext>
              </a:extLst>
            </p:cNvPr>
            <p:cNvSpPr/>
            <p:nvPr/>
          </p:nvSpPr>
          <p:spPr>
            <a:xfrm rot="5400000">
              <a:off x="6649072" y="5249693"/>
              <a:ext cx="375490" cy="413137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lowchart: Delay 26">
              <a:extLst>
                <a:ext uri="{FF2B5EF4-FFF2-40B4-BE49-F238E27FC236}">
                  <a16:creationId xmlns:a16="http://schemas.microsoft.com/office/drawing/2014/main" id="{B5975B28-E32B-4D09-B46D-93529D84224B}"/>
                </a:ext>
              </a:extLst>
            </p:cNvPr>
            <p:cNvSpPr/>
            <p:nvPr/>
          </p:nvSpPr>
          <p:spPr>
            <a:xfrm>
              <a:off x="8041503" y="4255938"/>
              <a:ext cx="375490" cy="413137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lowchart: Delay 27">
              <a:extLst>
                <a:ext uri="{FF2B5EF4-FFF2-40B4-BE49-F238E27FC236}">
                  <a16:creationId xmlns:a16="http://schemas.microsoft.com/office/drawing/2014/main" id="{3AE91432-ABF5-4384-84C1-41A5DA664AB7}"/>
                </a:ext>
              </a:extLst>
            </p:cNvPr>
            <p:cNvSpPr/>
            <p:nvPr/>
          </p:nvSpPr>
          <p:spPr>
            <a:xfrm>
              <a:off x="8022680" y="3291065"/>
              <a:ext cx="375490" cy="413137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71135C8-C5A1-488E-98E2-128E92CE07A1}"/>
                </a:ext>
              </a:extLst>
            </p:cNvPr>
            <p:cNvSpPr txBox="1"/>
            <p:nvPr/>
          </p:nvSpPr>
          <p:spPr>
            <a:xfrm>
              <a:off x="6688379" y="2419802"/>
              <a:ext cx="359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926581-7F19-4E48-9EAE-C3ADBA4F341F}"/>
                </a:ext>
              </a:extLst>
            </p:cNvPr>
            <p:cNvSpPr txBox="1"/>
            <p:nvPr/>
          </p:nvSpPr>
          <p:spPr>
            <a:xfrm>
              <a:off x="8022680" y="3312855"/>
              <a:ext cx="359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14359C-EDFE-4FE3-A898-462A67BDA236}"/>
                </a:ext>
              </a:extLst>
            </p:cNvPr>
            <p:cNvSpPr txBox="1"/>
            <p:nvPr/>
          </p:nvSpPr>
          <p:spPr>
            <a:xfrm>
              <a:off x="8066995" y="4329185"/>
              <a:ext cx="359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C8BFBE2-9348-4002-A112-2F6F6DD06935}"/>
                </a:ext>
              </a:extLst>
            </p:cNvPr>
            <p:cNvSpPr txBox="1"/>
            <p:nvPr/>
          </p:nvSpPr>
          <p:spPr>
            <a:xfrm>
              <a:off x="6683976" y="5279512"/>
              <a:ext cx="359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AD445FC1-7482-45FB-973E-E7FE51660A04}"/>
                    </a:ext>
                  </a:extLst>
                </p:cNvPr>
                <p:cNvSpPr txBox="1"/>
                <p:nvPr/>
              </p:nvSpPr>
              <p:spPr>
                <a:xfrm>
                  <a:off x="2979987" y="2795631"/>
                  <a:ext cx="29314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First qubit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AD445FC1-7482-45FB-973E-E7FE51660A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987" y="2795631"/>
                  <a:ext cx="2931477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663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9D5C14B-E81B-4EF0-93E7-5CBC85C4C4A9}"/>
                    </a:ext>
                  </a:extLst>
                </p:cNvPr>
                <p:cNvSpPr txBox="1"/>
                <p:nvPr/>
              </p:nvSpPr>
              <p:spPr>
                <a:xfrm>
                  <a:off x="2869753" y="3912408"/>
                  <a:ext cx="29314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Second qubit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9D5C14B-E81B-4EF0-93E7-5CBC85C4C4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753" y="3912408"/>
                  <a:ext cx="2931477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663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003D8E-8294-43A4-8C31-9C971DA03DB6}"/>
                </a:ext>
              </a:extLst>
            </p:cNvPr>
            <p:cNvSpPr/>
            <p:nvPr/>
          </p:nvSpPr>
          <p:spPr>
            <a:xfrm>
              <a:off x="4432367" y="3229635"/>
              <a:ext cx="669948" cy="4953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E7F7034-F327-4E2A-893F-12E1924F3AC1}"/>
                </a:ext>
              </a:extLst>
            </p:cNvPr>
            <p:cNvSpPr/>
            <p:nvPr/>
          </p:nvSpPr>
          <p:spPr>
            <a:xfrm>
              <a:off x="4432367" y="4289149"/>
              <a:ext cx="669948" cy="4953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284751-F29B-438A-84C3-3873A071DC8A}"/>
                  </a:ext>
                </a:extLst>
              </p:cNvPr>
              <p:cNvSpPr txBox="1"/>
              <p:nvPr/>
            </p:nvSpPr>
            <p:spPr>
              <a:xfrm>
                <a:off x="4361201" y="1662539"/>
                <a:ext cx="29802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Order of states in overall state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284751-F29B-438A-84C3-3873A071D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201" y="1662539"/>
                <a:ext cx="2980275" cy="646331"/>
              </a:xfrm>
              <a:prstGeom prst="rect">
                <a:avLst/>
              </a:prstGeom>
              <a:blipFill>
                <a:blip r:embed="rId4"/>
                <a:stretch>
                  <a:fillRect l="-1636" t="-26415" r="-2863" b="-10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39522DE7-0F82-4009-91F5-CE1122A9DEA6}"/>
              </a:ext>
            </a:extLst>
          </p:cNvPr>
          <p:cNvGrpSpPr/>
          <p:nvPr/>
        </p:nvGrpSpPr>
        <p:grpSpPr>
          <a:xfrm>
            <a:off x="2126017" y="6076881"/>
            <a:ext cx="7450643" cy="523555"/>
            <a:chOff x="2126017" y="6076881"/>
            <a:chExt cx="7450643" cy="523555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DC13A4B-B316-44B6-A97E-081F1D881E84}"/>
                </a:ext>
              </a:extLst>
            </p:cNvPr>
            <p:cNvSpPr txBox="1"/>
            <p:nvPr/>
          </p:nvSpPr>
          <p:spPr>
            <a:xfrm>
              <a:off x="2936711" y="6076881"/>
              <a:ext cx="29802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Some way to rotate the state before the beam splitter ex: Wave plates or LCVR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FDD4874-650E-48C0-B8AD-43CBEC78C378}"/>
                </a:ext>
              </a:extLst>
            </p:cNvPr>
            <p:cNvSpPr/>
            <p:nvPr/>
          </p:nvSpPr>
          <p:spPr>
            <a:xfrm>
              <a:off x="2126017" y="6086298"/>
              <a:ext cx="669948" cy="4953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32CDFDC-0B8F-4014-A860-E0DC835761A5}"/>
                </a:ext>
              </a:extLst>
            </p:cNvPr>
            <p:cNvSpPr txBox="1"/>
            <p:nvPr/>
          </p:nvSpPr>
          <p:spPr>
            <a:xfrm>
              <a:off x="6924029" y="6215648"/>
              <a:ext cx="1077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Beam splitter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75F80A5-89ED-4D2A-A5DA-EFA85D36BBDD}"/>
                </a:ext>
              </a:extLst>
            </p:cNvPr>
            <p:cNvSpPr/>
            <p:nvPr/>
          </p:nvSpPr>
          <p:spPr>
            <a:xfrm>
              <a:off x="6240357" y="6116024"/>
              <a:ext cx="542925" cy="47624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A4D8B0D-58B9-4DCE-A93D-5373589B67F3}"/>
                </a:ext>
              </a:extLst>
            </p:cNvPr>
            <p:cNvCxnSpPr>
              <a:cxnSpLocks/>
            </p:cNvCxnSpPr>
            <p:nvPr/>
          </p:nvCxnSpPr>
          <p:spPr>
            <a:xfrm>
              <a:off x="6240356" y="6124187"/>
              <a:ext cx="542925" cy="4762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Flowchart: Delay 88">
              <a:extLst>
                <a:ext uri="{FF2B5EF4-FFF2-40B4-BE49-F238E27FC236}">
                  <a16:creationId xmlns:a16="http://schemas.microsoft.com/office/drawing/2014/main" id="{8442C6D8-022B-485B-9832-B3FF2178440A}"/>
                </a:ext>
              </a:extLst>
            </p:cNvPr>
            <p:cNvSpPr/>
            <p:nvPr/>
          </p:nvSpPr>
          <p:spPr>
            <a:xfrm>
              <a:off x="8347248" y="6174794"/>
              <a:ext cx="375490" cy="413137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0B41ADC-E7C2-409D-91E6-59619A5522CB}"/>
                </a:ext>
              </a:extLst>
            </p:cNvPr>
            <p:cNvSpPr txBox="1"/>
            <p:nvPr/>
          </p:nvSpPr>
          <p:spPr>
            <a:xfrm>
              <a:off x="8769709" y="6223815"/>
              <a:ext cx="8069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Detector</a:t>
              </a:r>
            </a:p>
          </p:txBody>
        </p:sp>
      </p:grp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DED7E9A-4613-4969-9B0F-269E2E96C3FE}"/>
              </a:ext>
            </a:extLst>
          </p:cNvPr>
          <p:cNvCxnSpPr>
            <a:cxnSpLocks/>
          </p:cNvCxnSpPr>
          <p:nvPr/>
        </p:nvCxnSpPr>
        <p:spPr>
          <a:xfrm>
            <a:off x="259903" y="5763237"/>
            <a:ext cx="1168099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033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2E50A-665B-40E0-9DB3-CD1B36C2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Qubits 4 Detectors OLD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04A5AD5-9DA8-4EAE-A39F-008F0D8E29DC}"/>
              </a:ext>
            </a:extLst>
          </p:cNvPr>
          <p:cNvCxnSpPr/>
          <p:nvPr/>
        </p:nvCxnSpPr>
        <p:spPr>
          <a:xfrm>
            <a:off x="672260" y="2961314"/>
            <a:ext cx="35909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FD100A-E55C-4B0F-8A75-A2FFA1ECA812}"/>
              </a:ext>
            </a:extLst>
          </p:cNvPr>
          <p:cNvCxnSpPr/>
          <p:nvPr/>
        </p:nvCxnSpPr>
        <p:spPr>
          <a:xfrm>
            <a:off x="672260" y="4009064"/>
            <a:ext cx="35909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9D84B7B-2CF6-41C8-AE03-81E7D6178418}"/>
              </a:ext>
            </a:extLst>
          </p:cNvPr>
          <p:cNvSpPr/>
          <p:nvPr/>
        </p:nvSpPr>
        <p:spPr>
          <a:xfrm>
            <a:off x="4263185" y="2751764"/>
            <a:ext cx="542925" cy="4762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4BB55A-D1AA-4F4D-80A0-8418BBD04E05}"/>
              </a:ext>
            </a:extLst>
          </p:cNvPr>
          <p:cNvSpPr/>
          <p:nvPr/>
        </p:nvSpPr>
        <p:spPr>
          <a:xfrm>
            <a:off x="4263185" y="3704264"/>
            <a:ext cx="542925" cy="4762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04D1BE-5184-4CA0-802C-876FFC5D9E73}"/>
              </a:ext>
            </a:extLst>
          </p:cNvPr>
          <p:cNvCxnSpPr>
            <a:cxnSpLocks/>
          </p:cNvCxnSpPr>
          <p:nvPr/>
        </p:nvCxnSpPr>
        <p:spPr>
          <a:xfrm flipV="1">
            <a:off x="4258082" y="2751765"/>
            <a:ext cx="548028" cy="456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A0BF2C-3497-4012-98B8-E19B8D776BA6}"/>
              </a:ext>
            </a:extLst>
          </p:cNvPr>
          <p:cNvCxnSpPr>
            <a:cxnSpLocks/>
          </p:cNvCxnSpPr>
          <p:nvPr/>
        </p:nvCxnSpPr>
        <p:spPr>
          <a:xfrm>
            <a:off x="4263185" y="3704264"/>
            <a:ext cx="542925" cy="476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70F885-3FA9-40C5-B985-B56CF3292BCC}"/>
              </a:ext>
            </a:extLst>
          </p:cNvPr>
          <p:cNvCxnSpPr>
            <a:stCxn id="7" idx="3"/>
          </p:cNvCxnSpPr>
          <p:nvPr/>
        </p:nvCxnSpPr>
        <p:spPr>
          <a:xfrm flipV="1">
            <a:off x="4806110" y="3942388"/>
            <a:ext cx="9144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207BD7-F62E-41F5-A881-29150E97F98A}"/>
              </a:ext>
            </a:extLst>
          </p:cNvPr>
          <p:cNvCxnSpPr>
            <a:stCxn id="7" idx="2"/>
          </p:cNvCxnSpPr>
          <p:nvPr/>
        </p:nvCxnSpPr>
        <p:spPr>
          <a:xfrm flipH="1">
            <a:off x="4534647" y="4180513"/>
            <a:ext cx="1" cy="866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35C61AD-34E5-498A-9078-3D9520143CAA}"/>
              </a:ext>
            </a:extLst>
          </p:cNvPr>
          <p:cNvCxnSpPr>
            <a:stCxn id="6" idx="3"/>
          </p:cNvCxnSpPr>
          <p:nvPr/>
        </p:nvCxnSpPr>
        <p:spPr>
          <a:xfrm>
            <a:off x="4806110" y="2989889"/>
            <a:ext cx="914400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E494BC-93F8-4D1D-A164-4081C89AD89C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4534647" y="2275513"/>
            <a:ext cx="1" cy="476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Delay 24">
            <a:extLst>
              <a:ext uri="{FF2B5EF4-FFF2-40B4-BE49-F238E27FC236}">
                <a16:creationId xmlns:a16="http://schemas.microsoft.com/office/drawing/2014/main" id="{67FA553C-E11C-4761-9A55-E31B9C5AC703}"/>
              </a:ext>
            </a:extLst>
          </p:cNvPr>
          <p:cNvSpPr/>
          <p:nvPr/>
        </p:nvSpPr>
        <p:spPr>
          <a:xfrm rot="16200000">
            <a:off x="4346902" y="1870594"/>
            <a:ext cx="375490" cy="41313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Delay 25">
            <a:extLst>
              <a:ext uri="{FF2B5EF4-FFF2-40B4-BE49-F238E27FC236}">
                <a16:creationId xmlns:a16="http://schemas.microsoft.com/office/drawing/2014/main" id="{CF5B815C-E573-4C3B-B0AD-C96D301BAD1A}"/>
              </a:ext>
            </a:extLst>
          </p:cNvPr>
          <p:cNvSpPr/>
          <p:nvPr/>
        </p:nvSpPr>
        <p:spPr>
          <a:xfrm rot="5400000">
            <a:off x="4346901" y="5030773"/>
            <a:ext cx="375490" cy="41313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Delay 26">
            <a:extLst>
              <a:ext uri="{FF2B5EF4-FFF2-40B4-BE49-F238E27FC236}">
                <a16:creationId xmlns:a16="http://schemas.microsoft.com/office/drawing/2014/main" id="{B5975B28-E32B-4D09-B46D-93529D84224B}"/>
              </a:ext>
            </a:extLst>
          </p:cNvPr>
          <p:cNvSpPr/>
          <p:nvPr/>
        </p:nvSpPr>
        <p:spPr>
          <a:xfrm>
            <a:off x="5739333" y="3735820"/>
            <a:ext cx="375490" cy="41313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Delay 27">
            <a:extLst>
              <a:ext uri="{FF2B5EF4-FFF2-40B4-BE49-F238E27FC236}">
                <a16:creationId xmlns:a16="http://schemas.microsoft.com/office/drawing/2014/main" id="{3AE91432-ABF5-4384-84C1-41A5DA664AB7}"/>
              </a:ext>
            </a:extLst>
          </p:cNvPr>
          <p:cNvSpPr/>
          <p:nvPr/>
        </p:nvSpPr>
        <p:spPr>
          <a:xfrm>
            <a:off x="5720510" y="2807891"/>
            <a:ext cx="375490" cy="41313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1135C8-C5A1-488E-98E2-128E92CE07A1}"/>
              </a:ext>
            </a:extLst>
          </p:cNvPr>
          <p:cNvSpPr txBox="1"/>
          <p:nvPr/>
        </p:nvSpPr>
        <p:spPr>
          <a:xfrm>
            <a:off x="4806110" y="1701474"/>
            <a:ext cx="35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926581-7F19-4E48-9EAE-C3ADBA4F341F}"/>
              </a:ext>
            </a:extLst>
          </p:cNvPr>
          <p:cNvSpPr txBox="1"/>
          <p:nvPr/>
        </p:nvSpPr>
        <p:spPr>
          <a:xfrm>
            <a:off x="6249072" y="2599681"/>
            <a:ext cx="35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14359C-EDFE-4FE3-A898-462A67BDA236}"/>
              </a:ext>
            </a:extLst>
          </p:cNvPr>
          <p:cNvSpPr txBox="1"/>
          <p:nvPr/>
        </p:nvSpPr>
        <p:spPr>
          <a:xfrm>
            <a:off x="6269150" y="3763432"/>
            <a:ext cx="35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8BFBE2-9348-4002-A112-2F6F6DD06935}"/>
              </a:ext>
            </a:extLst>
          </p:cNvPr>
          <p:cNvSpPr txBox="1"/>
          <p:nvPr/>
        </p:nvSpPr>
        <p:spPr>
          <a:xfrm>
            <a:off x="4957945" y="5047289"/>
            <a:ext cx="35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D700D5-3E02-4461-B163-85C3FE5CBC83}"/>
              </a:ext>
            </a:extLst>
          </p:cNvPr>
          <p:cNvSpPr txBox="1"/>
          <p:nvPr/>
        </p:nvSpPr>
        <p:spPr>
          <a:xfrm>
            <a:off x="7625593" y="1668026"/>
            <a:ext cx="41904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Det-pair 1 : 1-2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Det-pair 2 : 1-4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Det-pair 3 : 3-2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Det-pair 4 : 3-4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ctr"/>
            <a:r>
              <a:rPr lang="en-US" dirty="0"/>
              <a:t>Efficiency setting in same order to compensate for some detectors being much better at detecting single photons.</a:t>
            </a:r>
          </a:p>
          <a:p>
            <a:pPr algn="ctr"/>
            <a:r>
              <a:rPr lang="en-US" dirty="0"/>
              <a:t>[1,1,1,1]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445FC1-7482-45FB-973E-E7FE51660A04}"/>
                  </a:ext>
                </a:extLst>
              </p:cNvPr>
              <p:cNvSpPr txBox="1"/>
              <p:nvPr/>
            </p:nvSpPr>
            <p:spPr>
              <a:xfrm>
                <a:off x="677817" y="2275513"/>
                <a:ext cx="2931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First qubit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445FC1-7482-45FB-973E-E7FE51660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17" y="2275513"/>
                <a:ext cx="2931477" cy="369332"/>
              </a:xfrm>
              <a:prstGeom prst="rect">
                <a:avLst/>
              </a:prstGeom>
              <a:blipFill>
                <a:blip r:embed="rId2"/>
                <a:stretch>
                  <a:fillRect l="-166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9D5C14B-E81B-4EF0-93E7-5CBC85C4C4A9}"/>
                  </a:ext>
                </a:extLst>
              </p:cNvPr>
              <p:cNvSpPr txBox="1"/>
              <p:nvPr/>
            </p:nvSpPr>
            <p:spPr>
              <a:xfrm>
                <a:off x="567583" y="3392290"/>
                <a:ext cx="2931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Second qubit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9D5C14B-E81B-4EF0-93E7-5CBC85C4C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83" y="3392290"/>
                <a:ext cx="2931477" cy="369332"/>
              </a:xfrm>
              <a:prstGeom prst="rect">
                <a:avLst/>
              </a:prstGeom>
              <a:blipFill>
                <a:blip r:embed="rId3"/>
                <a:stretch>
                  <a:fillRect l="-166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3003D8E-8294-43A4-8C31-9C971DA03DB6}"/>
              </a:ext>
            </a:extLst>
          </p:cNvPr>
          <p:cNvSpPr/>
          <p:nvPr/>
        </p:nvSpPr>
        <p:spPr>
          <a:xfrm>
            <a:off x="2130197" y="2709517"/>
            <a:ext cx="669948" cy="4953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7F7034-F327-4E2A-893F-12E1924F3AC1}"/>
              </a:ext>
            </a:extLst>
          </p:cNvPr>
          <p:cNvSpPr/>
          <p:nvPr/>
        </p:nvSpPr>
        <p:spPr>
          <a:xfrm>
            <a:off x="2130197" y="3769031"/>
            <a:ext cx="669948" cy="4953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DDC225-1D39-4316-98FB-EE3A50093DC3}"/>
              </a:ext>
            </a:extLst>
          </p:cNvPr>
          <p:cNvCxnSpPr/>
          <p:nvPr/>
        </p:nvCxnSpPr>
        <p:spPr>
          <a:xfrm flipV="1">
            <a:off x="2379333" y="4567299"/>
            <a:ext cx="0" cy="769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EF34A69-4082-4A3E-A3A7-F6D0A2130EF0}"/>
              </a:ext>
            </a:extLst>
          </p:cNvPr>
          <p:cNvSpPr txBox="1"/>
          <p:nvPr/>
        </p:nvSpPr>
        <p:spPr>
          <a:xfrm>
            <a:off x="519511" y="5337249"/>
            <a:ext cx="2980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way to rotate the state before the beam splitter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Wave plates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LCVR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284751-F29B-438A-84C3-3873A071DC8A}"/>
                  </a:ext>
                </a:extLst>
              </p:cNvPr>
              <p:cNvSpPr txBox="1"/>
              <p:nvPr/>
            </p:nvSpPr>
            <p:spPr>
              <a:xfrm>
                <a:off x="931487" y="1497379"/>
                <a:ext cx="298027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Order of states in overall state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284751-F29B-438A-84C3-3873A071D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487" y="1497379"/>
                <a:ext cx="2980275" cy="923330"/>
              </a:xfrm>
              <a:prstGeom prst="rect">
                <a:avLst/>
              </a:prstGeom>
              <a:blipFill>
                <a:blip r:embed="rId4"/>
                <a:stretch>
                  <a:fillRect l="-1840" t="-18543" r="-2658" b="-44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6987971"/>
      </p:ext>
    </p:extLst>
  </p:cSld>
  <p:clrMapOvr>
    <a:masterClrMapping/>
  </p:clrMapOvr>
</p:sld>
</file>

<file path=ppt/theme/theme1.xml><?xml version="1.0" encoding="utf-8"?>
<a:theme xmlns:a="http://schemas.openxmlformats.org/drawingml/2006/main" name="kwiat ppt theme mark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st theme 5" id="{4D9C38F1-2FB3-4349-9079-F7662BB3D459}" vid="{3411971D-0012-4593-9AB6-285C732F71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115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kwiat ppt theme mark 1</vt:lpstr>
      <vt:lpstr>Quantum-Tomography</vt:lpstr>
      <vt:lpstr>2 Qubits 4 Detectors</vt:lpstr>
      <vt:lpstr>2 Qubits 4 Detectors OLD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Quantum-Tomography</dc:title>
  <dc:creator>Turro, Scott Matthew</dc:creator>
  <cp:lastModifiedBy>Turro, Scott Matthew</cp:lastModifiedBy>
  <cp:revision>20</cp:revision>
  <dcterms:created xsi:type="dcterms:W3CDTF">2020-07-30T17:31:06Z</dcterms:created>
  <dcterms:modified xsi:type="dcterms:W3CDTF">2021-07-16T15:09:35Z</dcterms:modified>
</cp:coreProperties>
</file>